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Fără stil, grilă tabel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C6281-1CE3-443D-B07F-49AC9D0F4DFF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0EFB9-3854-4BF7-AA73-5DE30ABDD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28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9E1B2FA-FB51-ACE8-5CC6-E18A17B70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6FB8D37C-F941-61E3-D04B-0AB36F28A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C525371-9F0B-31DF-97DB-99D0508F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DB764-F968-4E3F-9DD5-E89868D4C0C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DDBD285-E155-1D47-ED18-7214CBFB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7DD2FFE-BF52-14E7-AE2C-E68CCD0F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0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77E5461-C3E0-CB1F-E324-54285C893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4AC0591-313D-6B42-C7C1-15E65FA1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C78AC04-32B5-B1F6-60CA-5EC6F385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68EA-773B-4A18-94C2-D0729D59E5A8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D45ECEF-927C-4524-CC1C-1FA5E7AC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3A1A0FF-A393-A663-10EF-D34ABDF7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2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1F797F-A2E6-8DEA-3FC2-868B4AA62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6963541E-9C4A-F57B-E449-1E881C9AB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E4F1802-67E5-0E2C-46C2-870C9B92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0D15E-5858-4837-AAFD-ED47EA23E767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643071F-8695-6F9D-7818-8A1A979F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6D26411-C95E-682B-6FF8-AB4F89F5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3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DF17C60-2C23-4794-4433-427E55C8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759F97A-C5ED-91FD-70D6-5DD8F0D46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9A64AC78-D9E9-7719-6533-8E3DE1B4A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6DD910C-16D9-8697-D743-ECB7DEC9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E8841-921F-4452-9BC8-9D7693F54D0D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B3FA5E70-A9C3-33C7-5D50-988762F6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194C271-7561-A07C-8CB1-CA1C0A81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0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F62841F-07A8-C139-12E9-2B2E16FED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6D25011-5EA5-64BD-EF7B-75192059E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9F06026-6EF6-C27A-2866-5103BAEB4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9CB6603E-594D-6E81-6B9E-733F227399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BF86D1B6-D59A-9EAC-64BD-7B2524F5C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04F5C689-2375-4440-BD9F-D5D347D8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9699-3E86-4DC4-9CD2-D2257222B235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C2B0B5B0-FD89-4656-8863-0D603DBE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B18C7B57-C33A-8D78-884C-7E5F2F79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7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81853B9-F829-F279-D507-ACD7662E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912DFD7D-7FBA-C646-B9FD-D3721763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CCEA-FEB0-4366-ADFE-9F3F7EA36124}" type="datetime1">
              <a:rPr lang="en-US" smtClean="0"/>
              <a:t>1/14/2026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D49A8C1-FDB8-945C-06D4-99073A9DA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D24706FA-EBAA-36C5-F358-9064935D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2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0C78CD0F-E1B6-6EAE-F26F-60B217594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79D31-5F2B-448D-AB43-A031235213AC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44778BD4-8EDC-4631-8743-E3E51697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AA6C36E-D792-450B-E6A4-6DE90D35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4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2697D33-4352-01F6-685F-A045AFC1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1E36AC5-0519-D0B4-C00C-266563C7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56F9ABDB-4FE1-EC3D-01A7-9F8025CE5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E44A9DE-FEA7-438C-DEA3-3B89FF0C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234A-706A-421C-A3AA-6DF2D72A6A84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3AFEF4A-C605-E1DC-0BB9-90A610E6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C278ABBC-6BB6-2AFB-F53A-D29916D1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8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6159225-4A16-3E53-DBA2-89EAD6F1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41FC7252-B7EE-CD62-92B1-A9C65894D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573CFC8E-45B7-DA2E-7474-2CEBEC299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D46525E0-1006-3136-94B7-09A3CE23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37F7-AFD4-4559-ABA3-353C2EBE0F8C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A79DB7E-6E6E-49CA-6C02-CE9D326E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8BB0FD32-F3EE-C7A8-8AD7-4145CE53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2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84CC9AF-86A5-CA70-CE0A-32B0B9EFD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6C93FBF2-68DA-B7BB-FD88-498997ABE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E53CC88-B4EC-B19B-5083-7200F1AB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483-8A5C-410B-AFA4-93DAB671EEA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0DD7FE2-030B-C0FA-E26F-A23ED962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5537EA5-F5B1-4019-0C22-748375F4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6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6AF4B783-0E94-56DB-34B0-DF46F21C8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76C2044B-614C-220F-E0A7-C294C7A69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BEACE83-7877-7FA8-F55C-E37C10AB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E2A77-4563-40FC-8351-C00207B4DD54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FFD32AE-D356-43F7-B102-2C4BD688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534845E-F931-C599-0BCA-F610D442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6D4E5FD6-55A0-6A05-B949-4F8A07DF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580998F-6836-E154-4F6E-A81735A9C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2665005-1D30-ED51-0D8C-48A8AE7B1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04F08-B846-48D5-AC40-72C58AFCC947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697D96F-ECF8-42EF-2DE4-506580114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3D05835-C8C3-64C3-B0AD-CC6CF1A8A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3125E-556B-42E3-89E2-4F98F73A5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73BBEEF-B456-4A39-B44B-5A53E698A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  <a:effectLst>
            <a:outerShdw blurRad="596900" dist="330200" dir="882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4C6B6741-9730-398E-22B3-1A70B78B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575" y="771099"/>
            <a:ext cx="4658109" cy="3630304"/>
          </a:xfrm>
        </p:spPr>
        <p:txBody>
          <a:bodyPr anchor="t">
            <a:normAutofit/>
          </a:bodyPr>
          <a:lstStyle/>
          <a:p>
            <a:r>
              <a:rPr lang="en-US" sz="4100" dirty="0"/>
              <a:t>Network Intrusion Detection using Flow-to-Image Conversion and Deep Learning Classifiers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5143500"/>
            <a:ext cx="6096000" cy="1714500"/>
          </a:xfrm>
          <a:prstGeom prst="rect">
            <a:avLst/>
          </a:prstGeom>
          <a:ln>
            <a:noFill/>
          </a:ln>
          <a:effectLst>
            <a:outerShdw blurRad="342900" dist="127000" dir="2400000" sx="90000" sy="90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AB1D3B7D-C235-AF9F-B8F3-37723BD28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7575" y="5410485"/>
            <a:ext cx="4658109" cy="1180531"/>
          </a:xfrm>
        </p:spPr>
        <p:txBody>
          <a:bodyPr anchor="ctr">
            <a:normAutofit/>
          </a:bodyPr>
          <a:lstStyle/>
          <a:p>
            <a:pPr algn="l"/>
            <a:endParaRPr lang="en-US" dirty="0"/>
          </a:p>
          <a:p>
            <a:r>
              <a:rPr lang="en-US" dirty="0"/>
              <a:t>Student: Melinda-Henrietta Incze</a:t>
            </a:r>
          </a:p>
        </p:txBody>
      </p:sp>
      <p:pic>
        <p:nvPicPr>
          <p:cNvPr id="9" name="Grafic 8" descr="Server outline">
            <a:extLst>
              <a:ext uri="{FF2B5EF4-FFF2-40B4-BE49-F238E27FC236}">
                <a16:creationId xmlns:a16="http://schemas.microsoft.com/office/drawing/2014/main" id="{E5019A35-F7E9-A33B-0AD9-427883E4D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60" y="859536"/>
            <a:ext cx="914400" cy="914400"/>
          </a:xfrm>
          <a:prstGeom prst="rect">
            <a:avLst/>
          </a:prstGeom>
        </p:spPr>
      </p:pic>
      <p:pic>
        <p:nvPicPr>
          <p:cNvPr id="13" name="Grafic 12" descr="Images outline">
            <a:extLst>
              <a:ext uri="{FF2B5EF4-FFF2-40B4-BE49-F238E27FC236}">
                <a16:creationId xmlns:a16="http://schemas.microsoft.com/office/drawing/2014/main" id="{E9106554-3B05-EAEE-003A-3A731B2955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1230" y="1773936"/>
            <a:ext cx="914400" cy="914400"/>
          </a:xfrm>
          <a:prstGeom prst="rect">
            <a:avLst/>
          </a:prstGeom>
        </p:spPr>
      </p:pic>
      <p:pic>
        <p:nvPicPr>
          <p:cNvPr id="16" name="Grafic 15" descr="Artificial Intelligence outline">
            <a:extLst>
              <a:ext uri="{FF2B5EF4-FFF2-40B4-BE49-F238E27FC236}">
                <a16:creationId xmlns:a16="http://schemas.microsoft.com/office/drawing/2014/main" id="{77D4A720-2932-5F22-B9C3-91BA78629A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2560" y="3858768"/>
            <a:ext cx="914400" cy="914400"/>
          </a:xfrm>
          <a:prstGeom prst="rect">
            <a:avLst/>
          </a:prstGeom>
        </p:spPr>
      </p:pic>
      <p:pic>
        <p:nvPicPr>
          <p:cNvPr id="18" name="Grafic 17" descr="Network outline">
            <a:extLst>
              <a:ext uri="{FF2B5EF4-FFF2-40B4-BE49-F238E27FC236}">
                <a16:creationId xmlns:a16="http://schemas.microsoft.com/office/drawing/2014/main" id="{8E49FBBE-8538-3D08-2D26-DFA46D17DD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18430" y="5349240"/>
            <a:ext cx="914400" cy="914400"/>
          </a:xfrm>
          <a:prstGeom prst="rect">
            <a:avLst/>
          </a:prstGeom>
        </p:spPr>
      </p:pic>
      <p:cxnSp>
        <p:nvCxnSpPr>
          <p:cNvPr id="24" name="Conector: curbat 23">
            <a:extLst>
              <a:ext uri="{FF2B5EF4-FFF2-40B4-BE49-F238E27FC236}">
                <a16:creationId xmlns:a16="http://schemas.microsoft.com/office/drawing/2014/main" id="{DCF5BECA-A4F6-591A-E2B0-CCC29B397896}"/>
              </a:ext>
            </a:extLst>
          </p:cNvPr>
          <p:cNvCxnSpPr>
            <a:cxnSpLocks/>
            <a:stCxn id="13" idx="3"/>
            <a:endCxn id="16" idx="0"/>
          </p:cNvCxnSpPr>
          <p:nvPr/>
        </p:nvCxnSpPr>
        <p:spPr>
          <a:xfrm flipH="1">
            <a:off x="1889760" y="2231136"/>
            <a:ext cx="2785870" cy="1627632"/>
          </a:xfrm>
          <a:prstGeom prst="curvedConnector4">
            <a:avLst>
              <a:gd name="adj1" fmla="val -8206"/>
              <a:gd name="adj2" fmla="val 6404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ector: curbat 26">
            <a:extLst>
              <a:ext uri="{FF2B5EF4-FFF2-40B4-BE49-F238E27FC236}">
                <a16:creationId xmlns:a16="http://schemas.microsoft.com/office/drawing/2014/main" id="{443D5D66-7F30-F953-8253-15F0BCE9CCB8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346960" y="4315968"/>
            <a:ext cx="1871470" cy="1490472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: curbat 30">
            <a:extLst>
              <a:ext uri="{FF2B5EF4-FFF2-40B4-BE49-F238E27FC236}">
                <a16:creationId xmlns:a16="http://schemas.microsoft.com/office/drawing/2014/main" id="{7993A8B0-5B42-5A22-5F14-DB3C2BB60798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810512" y="1252728"/>
            <a:ext cx="1950718" cy="978408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C77E895-1C57-C156-9CFC-AAB6892B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EF7F-524E-45E4-BDA2-94A8B112D29C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98F13158-1E0F-298F-1D96-A157AE81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0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F09B39C-2B3B-894C-B332-346E2C16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Table of </a:t>
            </a:r>
            <a:r>
              <a:rPr lang="en-US" noProof="0" dirty="0" err="1"/>
              <a:t>Conten</a:t>
            </a:r>
            <a:r>
              <a:rPr lang="ro-RO" noProof="0" dirty="0" err="1"/>
              <a:t>ts</a:t>
            </a:r>
            <a:endParaRPr lang="en-US" noProof="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45417CA-E447-0E79-B674-09480A0FB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Motivation and Objectives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System Overview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Dataset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Traffic-to-Image Encoding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Training Setup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Experimental Design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Results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Conclusion</a:t>
            </a:r>
          </a:p>
        </p:txBody>
      </p:sp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FAC4E99C-560E-3D02-EDF2-D4C4FB0D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16BD-A9E8-4A5A-A4C9-3D0551397068}" type="datetime1">
              <a:rPr lang="en-US" smtClean="0"/>
              <a:t>1/14/2026</a:t>
            </a:fld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ACAD4FB-FCC4-DE9B-9CD7-D82D4315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0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78C41B3-33FE-E450-5796-3432DF66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Objectives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C28F9A1-E12F-2D74-C4FD-0C1562F2B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Motivation</a:t>
            </a:r>
            <a:r>
              <a:rPr lang="en-US" sz="2000" dirty="0"/>
              <a:t>: IoT networks are widely used, but security is often weak.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Problem</a:t>
            </a:r>
            <a:r>
              <a:rPr lang="en-US" sz="2000" dirty="0"/>
              <a:t>: Raw network traffic is difficult to classify because it is complex and variable.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>
                <a:solidFill>
                  <a:srgbClr val="00B050"/>
                </a:solidFill>
              </a:rPr>
              <a:t>Solution</a:t>
            </a:r>
            <a:r>
              <a:rPr lang="en-US" sz="2000" dirty="0"/>
              <a:t>: Transform traffic into a consistent format that can be learned by a classifier.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>
                <a:solidFill>
                  <a:srgbClr val="FFC000"/>
                </a:solidFill>
              </a:rPr>
              <a:t>Idea</a:t>
            </a:r>
            <a:r>
              <a:rPr lang="en-US" sz="2000" dirty="0"/>
              <a:t>: Use a visual representation of traffic patterns for multi-class detection.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Objectives</a:t>
            </a:r>
            <a:r>
              <a:rPr lang="en-US" sz="2000" dirty="0"/>
              <a:t>: Build the full workflow, run experiments, and report standard performance metrics.</a:t>
            </a:r>
          </a:p>
        </p:txBody>
      </p:sp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DA2FD436-1980-CF4A-9038-17A34C05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C0F5-B245-4DE6-9A10-788D707D5E40}" type="datetime1">
              <a:rPr lang="en-US" smtClean="0"/>
              <a:t>1/14/2026</a:t>
            </a:fld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C5FC687-D8B7-DADE-3A93-FD449C7B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16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3C2AB64-A31B-F7EF-F8A7-AEB13AF8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pic>
        <p:nvPicPr>
          <p:cNvPr id="5" name="Substituent conținut 4" descr="O imagine care conține text, captură de ecran, Font, design grafic&#10;&#10;Conținutul generat de inteligența artificială poate fi incorect.">
            <a:extLst>
              <a:ext uri="{FF2B5EF4-FFF2-40B4-BE49-F238E27FC236}">
                <a16:creationId xmlns:a16="http://schemas.microsoft.com/office/drawing/2014/main" id="{B40EBADB-742A-942E-A025-F2DBAFEFA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0461"/>
            <a:ext cx="10515600" cy="2797078"/>
          </a:xfrm>
        </p:spPr>
      </p:pic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10463488-AFC9-0F73-074E-B0AFDD13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79F4-A7A0-4649-ABEA-63AC5B1F9BE5}" type="datetime1">
              <a:rPr lang="en-US" smtClean="0"/>
              <a:t>1/14/2026</a:t>
            </a:fld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F61616BB-1239-F20C-52C5-CC7D776A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6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FA63B4C-3DFA-9AB3-1BDF-9E0ACBE0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1CD805A-C89A-11F0-CF84-058AEBEDF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/>
              <a:t>Source</a:t>
            </a:r>
            <a:r>
              <a:rPr lang="en-US" sz="2000" dirty="0"/>
              <a:t>: </a:t>
            </a:r>
            <a:r>
              <a:rPr lang="en-US" sz="2000" b="1" dirty="0"/>
              <a:t>CICIoT2023</a:t>
            </a:r>
            <a:r>
              <a:rPr lang="en-US" sz="2000" dirty="0"/>
              <a:t> published by the Canadian Institute for Cybersecurity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Content</a:t>
            </a:r>
            <a:r>
              <a:rPr lang="en-US" sz="2000" dirty="0"/>
              <a:t>: </a:t>
            </a:r>
            <a:r>
              <a:rPr lang="en-US" sz="2000" b="1" dirty="0"/>
              <a:t>33 attacks</a:t>
            </a:r>
            <a:r>
              <a:rPr lang="en-US" sz="2000" dirty="0"/>
              <a:t>, grouped into </a:t>
            </a:r>
            <a:r>
              <a:rPr lang="en-US" sz="2000" b="1" dirty="0"/>
              <a:t>7 categories</a:t>
            </a:r>
            <a:r>
              <a:rPr lang="en-US" sz="2000" dirty="0"/>
              <a:t>: DDoS, DoS, Recon, Web-based, Brute Force, Spoofing, Mirai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Subset used in this project</a:t>
            </a:r>
            <a:r>
              <a:rPr lang="en-US" sz="2000" dirty="0"/>
              <a:t>: </a:t>
            </a:r>
            <a:r>
              <a:rPr lang="en-US" sz="2000" b="1" dirty="0"/>
              <a:t>5 PCAPs </a:t>
            </a:r>
            <a:r>
              <a:rPr lang="en-US" sz="2000" dirty="0"/>
              <a:t>(benign + SYN flood + UDP flood + HTTP flood + DNS spoofing) and </a:t>
            </a:r>
            <a:r>
              <a:rPr lang="en-US" sz="2000" b="1" dirty="0"/>
              <a:t>3 merged CSVs</a:t>
            </a:r>
          </a:p>
          <a:p>
            <a:pPr marL="0" indent="0" algn="just">
              <a:buNone/>
            </a:pPr>
            <a:endParaRPr lang="en-US" sz="2000" b="1" dirty="0"/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Why this subset</a:t>
            </a:r>
            <a:r>
              <a:rPr lang="en-US" sz="2000" dirty="0"/>
              <a:t>: manageable size for a student setup, but still covers different attack behaviors and supports future comparisons with feature-based methods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39F8106-1452-A7A4-49C2-DD282C7D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EE81-2CD1-40C1-934B-0DB65200FF4F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F6F147F-8AC3-143D-7766-14C20C04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2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60B496BD-83C1-84A0-8E6F-945459C00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Traffic-to-Image Encoding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B06BAAE-4BA8-5A9A-BCD0-EFAF8A3D1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algn="just"/>
            <a:r>
              <a:rPr lang="en-US" sz="1700" b="1" dirty="0"/>
              <a:t>Traffic-to-Image Encoding</a:t>
            </a:r>
            <a:r>
              <a:rPr lang="en-US" sz="1700" dirty="0"/>
              <a:t>: Split the PCAP traffic into fixed time windows, then convert each window into a grayscale image</a:t>
            </a:r>
          </a:p>
          <a:p>
            <a:pPr algn="just"/>
            <a:r>
              <a:rPr lang="en-US" sz="1700" b="1" dirty="0"/>
              <a:t>How the image is built</a:t>
            </a:r>
            <a:r>
              <a:rPr lang="en-US" sz="1700" dirty="0"/>
              <a:t>: The x-axis represents time inside the window, the y-axis represents packet size, and pixel intensity shows how many packets fall into each time–size bin</a:t>
            </a:r>
          </a:p>
          <a:p>
            <a:pPr algn="just"/>
            <a:r>
              <a:rPr lang="en-US" sz="1700" b="1" dirty="0">
                <a:solidFill>
                  <a:srgbClr val="FF0000"/>
                </a:solidFill>
              </a:rPr>
              <a:t>Why it helps</a:t>
            </a:r>
            <a:r>
              <a:rPr lang="en-US" sz="1700" dirty="0"/>
              <a:t>: This creates a consistent input format and highlights patterns such as bursts and repeated packet sizes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675FA007-4B33-24FB-1648-1066D470E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98379"/>
            <a:ext cx="5334197" cy="3861242"/>
          </a:xfrm>
          <a:prstGeom prst="rect">
            <a:avLst/>
          </a:prstGeom>
        </p:spPr>
      </p:pic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7437864-8E68-DC96-12B5-CCB2F976E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5E18F-4D8E-448B-9DBA-64D4AB7E5137}" type="datetime1">
              <a:rPr lang="en-US" smtClean="0"/>
              <a:t>1/14/2026</a:t>
            </a:fld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09D243B0-325A-A742-76F8-87893765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8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370918E1-3EE4-CE19-70AF-5A2614BE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Traffic-to-Image Encoding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2548EF8D-ED42-8A89-3A2A-FBB645862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Here are representative generated images for each of the five traffic classes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ine 6" descr="O imagine care conține Dreptunghi, fereastră, pătrat, alb și negru&#10;&#10;Conținutul generat de inteligența artificială poate fi incorect.">
            <a:extLst>
              <a:ext uri="{FF2B5EF4-FFF2-40B4-BE49-F238E27FC236}">
                <a16:creationId xmlns:a16="http://schemas.microsoft.com/office/drawing/2014/main" id="{8F3F9336-698F-029F-A6C7-098CC5B2A8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81921"/>
            <a:ext cx="5334197" cy="5094158"/>
          </a:xfrm>
          <a:prstGeom prst="rect">
            <a:avLst/>
          </a:prstGeom>
        </p:spPr>
      </p:pic>
      <p:sp>
        <p:nvSpPr>
          <p:cNvPr id="8" name="Substituent dată 7">
            <a:extLst>
              <a:ext uri="{FF2B5EF4-FFF2-40B4-BE49-F238E27FC236}">
                <a16:creationId xmlns:a16="http://schemas.microsoft.com/office/drawing/2014/main" id="{21FE730F-F769-6E4B-0B45-85F18233C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A236-C878-4F7A-88A7-EA8454DBF374}" type="datetime1">
              <a:rPr lang="en-US" smtClean="0"/>
              <a:t>1/14/2026</a:t>
            </a:fld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63A1E926-5D6F-DB85-3365-E211D6AC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3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55A159D-B5DA-A3DE-F9FE-8324A9C0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Setup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0627A24-1BF8-C724-0EEB-C238342C5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Model</a:t>
            </a:r>
            <a:r>
              <a:rPr lang="en-US" dirty="0"/>
              <a:t>: </a:t>
            </a:r>
            <a:r>
              <a:rPr lang="en-US" b="1" dirty="0"/>
              <a:t>ResNet18</a:t>
            </a:r>
            <a:r>
              <a:rPr lang="en-US" dirty="0"/>
              <a:t> (transfer learning) the final layer is replaced to output 5 traffic classes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Data split</a:t>
            </a:r>
            <a:r>
              <a:rPr lang="en-US" dirty="0"/>
              <a:t>: The image dataset is split into </a:t>
            </a:r>
            <a:r>
              <a:rPr lang="en-US" b="1" dirty="0"/>
              <a:t>70% train</a:t>
            </a:r>
            <a:r>
              <a:rPr lang="en-US" dirty="0"/>
              <a:t>, </a:t>
            </a:r>
            <a:r>
              <a:rPr lang="en-US" b="1" dirty="0"/>
              <a:t>15% validation</a:t>
            </a:r>
            <a:r>
              <a:rPr lang="en-US" dirty="0"/>
              <a:t>, and </a:t>
            </a:r>
            <a:r>
              <a:rPr lang="en-US" b="1" dirty="0"/>
              <a:t>15% test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Input handling</a:t>
            </a:r>
            <a:r>
              <a:rPr lang="en-US" dirty="0"/>
              <a:t>: Each traffic image is resized to </a:t>
            </a:r>
            <a:r>
              <a:rPr lang="en-US" b="1" dirty="0"/>
              <a:t>224×224</a:t>
            </a:r>
            <a:r>
              <a:rPr lang="en-US" dirty="0"/>
              <a:t> and standardized before training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Training</a:t>
            </a:r>
            <a:r>
              <a:rPr lang="en-US" dirty="0"/>
              <a:t>: </a:t>
            </a:r>
            <a:r>
              <a:rPr lang="en-US" b="1" dirty="0"/>
              <a:t>Multi-class</a:t>
            </a:r>
            <a:r>
              <a:rPr lang="en-US" dirty="0"/>
              <a:t> learning with </a:t>
            </a:r>
            <a:r>
              <a:rPr lang="en-US" b="1" dirty="0"/>
              <a:t>cross-entropy loss </a:t>
            </a:r>
            <a:r>
              <a:rPr lang="en-US" dirty="0"/>
              <a:t>and the </a:t>
            </a:r>
            <a:r>
              <a:rPr lang="en-US" b="1" dirty="0"/>
              <a:t>Adam optimizer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Hyperparameters</a:t>
            </a:r>
            <a:r>
              <a:rPr lang="en-US" dirty="0"/>
              <a:t>: batch size, learning rate, and epochs were tuned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Evaluation metrics</a:t>
            </a:r>
            <a:r>
              <a:rPr lang="en-US" dirty="0"/>
              <a:t>: loss (cross-entropy), accuracy, precision, recall, F1-score, ROC–AUC, plus confusion matrix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BF1108D6-7630-9AC0-8502-D6EEE95F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A99DE-675D-41DD-9E04-394CDDB95D18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6889814-266A-F929-328C-ECF3A5E7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19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3E7F567-AFEF-421F-4BD5-8AFED607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Design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14194C7-BBD8-8EA9-B9C8-5980AFC70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dirty="0"/>
              <a:t>Here is an overview of the hyperparameter and image-encoding settings evaluated in the experiments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6" name="Imagine 5" descr="O imagine care conține text, număr, Font, joc cuvinte încrucișate&#10;&#10;Conținutul generat de inteligența artificială poate fi incorect.">
            <a:extLst>
              <a:ext uri="{FF2B5EF4-FFF2-40B4-BE49-F238E27FC236}">
                <a16:creationId xmlns:a16="http://schemas.microsoft.com/office/drawing/2014/main" id="{3853AF51-DA44-1161-8852-6355088C0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91" y="2519046"/>
            <a:ext cx="8268417" cy="3657917"/>
          </a:xfrm>
          <a:prstGeom prst="rect">
            <a:avLst/>
          </a:prstGeom>
        </p:spPr>
      </p:pic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233FF4B6-D729-9D88-1A95-C0E0EDF8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4327C-BD03-4EB1-B115-4E95F37B46C2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CE80D172-3010-6D70-3A06-396F36C9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938D9A3-3B42-C018-D23F-718C7287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782121F-4082-4E3B-FC5C-9CEA003CA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400" dirty="0"/>
              <a:t>Here we have the test-set results for all runs</a:t>
            </a:r>
          </a:p>
          <a:p>
            <a:pPr algn="just"/>
            <a:r>
              <a:rPr lang="en-US" sz="1400" b="1" dirty="0"/>
              <a:t>Best run</a:t>
            </a:r>
            <a:r>
              <a:rPr lang="en-US" sz="1400" dirty="0"/>
              <a:t>: Run 11</a:t>
            </a:r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Why</a:t>
            </a:r>
            <a:r>
              <a:rPr lang="en-US" sz="1400" dirty="0"/>
              <a:t>: it achieves the highest overall F1-score (0.9933) and ROC–AUC (1.0000) while also keeping accuracy high (0.9333) and the lowest loss (0.0190)</a:t>
            </a:r>
          </a:p>
          <a:p>
            <a:pPr marL="0" indent="0" algn="just">
              <a:buNone/>
            </a:pPr>
            <a:endParaRPr lang="en-US" sz="1800" dirty="0"/>
          </a:p>
        </p:txBody>
      </p:sp>
      <p:pic>
        <p:nvPicPr>
          <p:cNvPr id="5" name="Imagine 4" descr="O imagine care conține text, captură de ecran, număr, Font&#10;&#10;Conținutul generat de inteligența artificială poate fi incorect.">
            <a:extLst>
              <a:ext uri="{FF2B5EF4-FFF2-40B4-BE49-F238E27FC236}">
                <a16:creationId xmlns:a16="http://schemas.microsoft.com/office/drawing/2014/main" id="{ACA1B6B9-C167-A04A-9F58-3A3B190FB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192" y="3002068"/>
            <a:ext cx="6673615" cy="3174895"/>
          </a:xfrm>
          <a:prstGeom prst="rect">
            <a:avLst/>
          </a:prstGeom>
        </p:spPr>
      </p:pic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1A860CFC-A0A4-1629-EFAC-360FFAC1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6269-CAEC-4B16-B758-448AD7FAEBA3}" type="datetime1">
              <a:rPr lang="en-US" smtClean="0"/>
              <a:t>1/14/2026</a:t>
            </a:fld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15B96A4-FFB3-34F3-2428-69C90EB0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73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48C4322-ACAC-6DB0-4AD2-BF97A078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E6550CE-2DBD-58DE-F341-F7B1E2E8E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/>
              <a:t>Here we have the learning curves (Run 1)</a:t>
            </a:r>
          </a:p>
          <a:p>
            <a:pPr algn="just"/>
            <a:r>
              <a:rPr lang="en-US" sz="1800" dirty="0"/>
              <a:t>Train accuracy/F1 increase fast and reach very high values</a:t>
            </a:r>
          </a:p>
          <a:p>
            <a:pPr algn="just"/>
            <a:r>
              <a:rPr lang="en-US" sz="1800" dirty="0"/>
              <a:t>Validation improves early, then fluctuates below train → overfitting (small date)</a:t>
            </a:r>
          </a:p>
          <a:p>
            <a:pPr algn="just"/>
            <a:r>
              <a:rPr lang="en-US" sz="1800" dirty="0"/>
              <a:t>Train loss keeps decreasing, while </a:t>
            </a:r>
            <a:r>
              <a:rPr lang="en-US" sz="1800" dirty="0" err="1"/>
              <a:t>val</a:t>
            </a:r>
            <a:r>
              <a:rPr lang="en-US" sz="1800" dirty="0"/>
              <a:t> loss oscillates after the first epochs</a:t>
            </a:r>
          </a:p>
          <a:p>
            <a:pPr algn="just"/>
            <a:endParaRPr lang="en-US" sz="1800" dirty="0"/>
          </a:p>
        </p:txBody>
      </p:sp>
      <p:pic>
        <p:nvPicPr>
          <p:cNvPr id="11" name="Imagine 10" descr="O imagine care conține text, diagramă, Interval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F5773D2B-5BAD-C4AD-2C57-F9132089A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86" y="3810626"/>
            <a:ext cx="3675904" cy="2310737"/>
          </a:xfrm>
          <a:prstGeom prst="rect">
            <a:avLst/>
          </a:prstGeom>
        </p:spPr>
      </p:pic>
      <p:pic>
        <p:nvPicPr>
          <p:cNvPr id="13" name="Imagine 12" descr="O imagine care conține diagramă, Interval, text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1C2AA9D4-1DAF-08E9-08EF-7CE4C1586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49" y="3776700"/>
            <a:ext cx="3675904" cy="2344663"/>
          </a:xfrm>
          <a:prstGeom prst="rect">
            <a:avLst/>
          </a:prstGeom>
        </p:spPr>
      </p:pic>
      <p:pic>
        <p:nvPicPr>
          <p:cNvPr id="16" name="Imagine 15" descr="O imagine care conține text, diagramă, Interval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8726DF11-080A-AD82-7E6D-7E22C76EB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912" y="3832300"/>
            <a:ext cx="3675904" cy="2344663"/>
          </a:xfrm>
          <a:prstGeom prst="rect">
            <a:avLst/>
          </a:prstGeom>
        </p:spPr>
      </p:pic>
      <p:sp>
        <p:nvSpPr>
          <p:cNvPr id="22" name="Substituent dată 21">
            <a:extLst>
              <a:ext uri="{FF2B5EF4-FFF2-40B4-BE49-F238E27FC236}">
                <a16:creationId xmlns:a16="http://schemas.microsoft.com/office/drawing/2014/main" id="{103DD019-DE6F-A572-616B-5FF03D48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1DE6-019A-4D17-86BB-7FE62C2D2943}" type="datetime1">
              <a:rPr lang="en-US" smtClean="0"/>
              <a:t>1/14/2026</a:t>
            </a:fld>
            <a:endParaRPr lang="en-US"/>
          </a:p>
        </p:txBody>
      </p:sp>
      <p:sp>
        <p:nvSpPr>
          <p:cNvPr id="23" name="Substituent număr diapozitiv 22">
            <a:extLst>
              <a:ext uri="{FF2B5EF4-FFF2-40B4-BE49-F238E27FC236}">
                <a16:creationId xmlns:a16="http://schemas.microsoft.com/office/drawing/2014/main" id="{955537C6-2271-ED0E-B594-1438F94A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78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358043D0-0B12-B0D0-D27D-D63A7FAE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Results 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F8829CE-DE3E-6274-C6B3-FB1158776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/>
              <a:t>Here we have the ROC curves for all classes on the test set (Run 1)</a:t>
            </a:r>
          </a:p>
          <a:p>
            <a:pPr algn="just"/>
            <a:r>
              <a:rPr lang="en-US" sz="1800" dirty="0"/>
              <a:t>ROC–AUC measures how well the model separates each class from the others using predicted probabilities</a:t>
            </a:r>
          </a:p>
          <a:p>
            <a:pPr algn="just"/>
            <a:r>
              <a:rPr lang="en-US" sz="1800" dirty="0"/>
              <a:t>The curves are close to the top-left corner and the macro-average AUC is very high, which indicates strong overall class separability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ine 5" descr="O imagine care conține text, captură de ecran, linie, diagramă&#10;&#10;Conținutul generat de inteligența artificială poate fi incorect.">
            <a:extLst>
              <a:ext uri="{FF2B5EF4-FFF2-40B4-BE49-F238E27FC236}">
                <a16:creationId xmlns:a16="http://schemas.microsoft.com/office/drawing/2014/main" id="{6C8479B4-2CEA-76B6-2533-A021C5921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8631"/>
            <a:ext cx="5334197" cy="4560738"/>
          </a:xfrm>
          <a:prstGeom prst="rect">
            <a:avLst/>
          </a:prstGeom>
        </p:spPr>
      </p:pic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6858CA55-3EF3-C7BB-708A-87EDB1CB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3AD3-3949-4E1E-9433-B5F3710CFC89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93A5D6FD-81DF-19B6-048C-9D909395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68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EF5C3917-1E48-DCF1-87E8-6E5C37B8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Results 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1573A32-3F3D-575A-0F79-DB0218F82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/>
              <a:t>Here we have the confusion matrix on the test set (Run 1)</a:t>
            </a:r>
          </a:p>
          <a:p>
            <a:pPr algn="just"/>
            <a:r>
              <a:rPr lang="en-US" sz="1800" dirty="0"/>
              <a:t>Most samples are correctly classified (strong diagonal)</a:t>
            </a:r>
          </a:p>
          <a:p>
            <a:pPr algn="just"/>
            <a:r>
              <a:rPr lang="en-US" sz="1800" dirty="0"/>
              <a:t>The main errors appear between </a:t>
            </a:r>
            <a:r>
              <a:rPr lang="en-US" sz="1800" i="1" dirty="0" err="1"/>
              <a:t>ddos_udp_flood</a:t>
            </a:r>
            <a:r>
              <a:rPr lang="en-US" sz="1800" i="1" dirty="0"/>
              <a:t> </a:t>
            </a:r>
            <a:r>
              <a:rPr lang="en-US" sz="1800" dirty="0"/>
              <a:t>and </a:t>
            </a:r>
            <a:r>
              <a:rPr lang="en-US" sz="1800" i="1" dirty="0" err="1"/>
              <a:t>dos_syn_flood</a:t>
            </a:r>
            <a:r>
              <a:rPr lang="en-US" sz="1800" dirty="0"/>
              <a:t>, which suggests these two classes can look similar in the encoded images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ine 5" descr="O imagine care conține text, captură de ecran, diagramă, pătrat&#10;&#10;Conținutul generat de inteligența artificială poate fi incorect.">
            <a:extLst>
              <a:ext uri="{FF2B5EF4-FFF2-40B4-BE49-F238E27FC236}">
                <a16:creationId xmlns:a16="http://schemas.microsoft.com/office/drawing/2014/main" id="{BB5D8739-7F2A-D04A-4B52-BAADF350B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81954"/>
            <a:ext cx="5334197" cy="4694093"/>
          </a:xfrm>
          <a:prstGeom prst="rect">
            <a:avLst/>
          </a:prstGeom>
        </p:spPr>
      </p:pic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344122D2-FE11-C2A5-6B8C-92A074B4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1E62-0E76-4E82-849C-C07C7B00F3FD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258541A5-46A1-CCAE-26B1-E568B68D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9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1F586F1-B4BB-FCFD-82E7-52FF9A651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Results 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84BE871-79FA-7BE4-3B61-23558857A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/>
              <a:t>Here we have a single test image with the model’s top predictions (Run 1)</a:t>
            </a:r>
          </a:p>
          <a:p>
            <a:pPr algn="just"/>
            <a:r>
              <a:rPr lang="en-US" sz="1800" dirty="0"/>
              <a:t>The true class is benign, and the model predicts benign with very high confidence, while all other classes have near-zero probability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ine 5" descr="O imagine care conține text, captură de ecran, software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6049E460-3D47-5E25-936F-6029019CD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22090"/>
            <a:ext cx="5334197" cy="3013821"/>
          </a:xfrm>
          <a:prstGeom prst="rect">
            <a:avLst/>
          </a:prstGeom>
        </p:spPr>
      </p:pic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7B30EE06-9E7A-03F4-DC77-0DFBF681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70F3-AFE0-438B-8F55-EB35DC00B1BD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8C98DF98-5345-E8E4-121A-38B980CF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B4F7352-E621-3B0C-85ED-8F1DCA7A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2581BC5-AA66-4476-5D54-8CA6C227E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000" dirty="0"/>
              <a:t>Best accuracy: Run 10 (0.9867); best separation: Run 11 (F1=0.9933, AUC=1.0000).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More training helped: </a:t>
            </a:r>
            <a:r>
              <a:rPr lang="en-US" sz="2000" i="1" dirty="0"/>
              <a:t>40 epochs </a:t>
            </a:r>
            <a:r>
              <a:rPr lang="en-US" sz="2000" dirty="0"/>
              <a:t>+ </a:t>
            </a:r>
            <a:r>
              <a:rPr lang="en-US" sz="2000" i="1" dirty="0"/>
              <a:t>LR=3e-4 </a:t>
            </a:r>
            <a:r>
              <a:rPr lang="en-US" sz="2000" dirty="0"/>
              <a:t>improved results vs. baseline.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Encoding mattered: </a:t>
            </a:r>
            <a:r>
              <a:rPr lang="en-US" sz="2000" i="1" dirty="0"/>
              <a:t>IMG_SIZE=64 </a:t>
            </a:r>
            <a:r>
              <a:rPr lang="en-US" sz="2000" dirty="0"/>
              <a:t>improved performance; </a:t>
            </a:r>
            <a:r>
              <a:rPr lang="en-US" sz="2000" i="1" dirty="0"/>
              <a:t>TIME_WINDOW=4s </a:t>
            </a:r>
            <a:r>
              <a:rPr lang="en-US" sz="2000" dirty="0"/>
              <a:t>increased loss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Main errors: confusion mainly between </a:t>
            </a:r>
            <a:r>
              <a:rPr lang="en-US" sz="2000" i="1" dirty="0" err="1"/>
              <a:t>ddos_udp_flood</a:t>
            </a:r>
            <a:r>
              <a:rPr lang="en-US" sz="2000" i="1" dirty="0"/>
              <a:t> </a:t>
            </a:r>
            <a:r>
              <a:rPr lang="en-US" sz="2000" dirty="0"/>
              <a:t>and </a:t>
            </a:r>
            <a:r>
              <a:rPr lang="en-US" sz="2000" i="1" dirty="0" err="1"/>
              <a:t>dos_syn_flood</a:t>
            </a:r>
            <a:endParaRPr lang="en-US" sz="2000" i="1" dirty="0"/>
          </a:p>
          <a:p>
            <a:pPr algn="just"/>
            <a:endParaRPr lang="en-US" sz="2000" i="1" dirty="0"/>
          </a:p>
          <a:p>
            <a:pPr marL="0" indent="0" algn="just">
              <a:buNone/>
            </a:pPr>
            <a:r>
              <a:rPr lang="en-US" sz="1900" b="1" i="1" dirty="0"/>
              <a:t>Future work:</a:t>
            </a:r>
          </a:p>
          <a:p>
            <a:pPr algn="just"/>
            <a:r>
              <a:rPr lang="en-US" sz="1900" dirty="0"/>
              <a:t>Expand to more PCAPs and attack types</a:t>
            </a:r>
          </a:p>
          <a:p>
            <a:pPr algn="just"/>
            <a:r>
              <a:rPr lang="en-US" sz="1900" dirty="0"/>
              <a:t>Use stricter splits (by file or time blocks)</a:t>
            </a:r>
          </a:p>
          <a:p>
            <a:pPr algn="just"/>
            <a:r>
              <a:rPr lang="en-US" sz="1900" dirty="0"/>
              <a:t>Improve the encoding with extra traffic signals</a:t>
            </a:r>
          </a:p>
        </p:txBody>
      </p:sp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277CBC67-0800-79B7-D350-0ED30674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D17-2EDA-44E2-8F77-EFC8B57EC53D}" type="datetime1">
              <a:rPr lang="en-US" smtClean="0"/>
              <a:t>1/14/2026</a:t>
            </a:fld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8D5DD3E-BC34-8DDC-4143-759127AD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84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60E6DF7-9801-547D-09FD-EA62CF56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B2A37F2-D8B5-B066-4CDD-F87A09037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[1] E. C. P. Neto, S. Dadkhah, R. Ferreira, A. </a:t>
            </a:r>
            <a:r>
              <a:rPr lang="en-US" dirty="0" err="1"/>
              <a:t>Zohourian</a:t>
            </a:r>
            <a:r>
              <a:rPr lang="en-US" dirty="0"/>
              <a:t>, R. Lu, and A. A. Ghorbani, “CICIoT2023: A Real-Time Dataset and Benchmark for Large-Scale Attacks in IoT Environment,” </a:t>
            </a:r>
            <a:r>
              <a:rPr lang="en-US" i="1" dirty="0"/>
              <a:t>Sensors</a:t>
            </a:r>
            <a:r>
              <a:rPr lang="en-US" dirty="0"/>
              <a:t>, vol. 23, no. 13, Art. 5941, 2023, </a:t>
            </a:r>
            <a:r>
              <a:rPr lang="en-US" dirty="0" err="1"/>
              <a:t>doi</a:t>
            </a:r>
            <a:r>
              <a:rPr lang="en-US" dirty="0"/>
              <a:t>: 10.3390/s23135941. </a:t>
            </a:r>
          </a:p>
          <a:p>
            <a:pPr marL="0" indent="0">
              <a:buNone/>
            </a:pPr>
            <a:r>
              <a:rPr lang="en-US" dirty="0"/>
              <a:t>[2] K. He, X. Zhang, S. Ren, and J. Sun, “Deep Residual Learning for Image Recognition,” in </a:t>
            </a:r>
            <a:r>
              <a:rPr lang="en-US" i="1" dirty="0"/>
              <a:t>Proc. IEEE CVPR</a:t>
            </a:r>
            <a:r>
              <a:rPr lang="en-US" dirty="0"/>
              <a:t>, 2016, pp. 770–778, </a:t>
            </a:r>
            <a:r>
              <a:rPr lang="en-US" dirty="0" err="1"/>
              <a:t>doi</a:t>
            </a:r>
            <a:r>
              <a:rPr lang="en-US" dirty="0"/>
              <a:t>: 10.1109/CVPR.2016.90. </a:t>
            </a:r>
          </a:p>
          <a:p>
            <a:pPr marL="0" indent="0">
              <a:buNone/>
            </a:pPr>
            <a:r>
              <a:rPr lang="en-US" dirty="0"/>
              <a:t>[3] P. García-Teodoro, J. Díaz-Verdejo, G. </a:t>
            </a:r>
            <a:r>
              <a:rPr lang="en-US" dirty="0" err="1"/>
              <a:t>Maciá</a:t>
            </a:r>
            <a:r>
              <a:rPr lang="en-US" dirty="0"/>
              <a:t>-Fernández, and E. Vázquez, “Anomaly-based Network Intrusion Detection: Techniques, Systems and Challenges,” </a:t>
            </a:r>
            <a:r>
              <a:rPr lang="en-US" i="1" dirty="0"/>
              <a:t>Computers &amp; Security</a:t>
            </a:r>
            <a:r>
              <a:rPr lang="en-US" dirty="0"/>
              <a:t>, vol. 28, no. 1–2, pp. 18–28, 2009, </a:t>
            </a:r>
            <a:r>
              <a:rPr lang="en-US" dirty="0" err="1"/>
              <a:t>doi</a:t>
            </a:r>
            <a:r>
              <a:rPr lang="en-US" dirty="0"/>
              <a:t>: 10.1016/j.cose.2008.08.003. </a:t>
            </a:r>
          </a:p>
          <a:p>
            <a:pPr marL="0" indent="0">
              <a:buNone/>
            </a:pPr>
            <a:r>
              <a:rPr lang="en-US" dirty="0"/>
              <a:t>[4] A. L. Buczak and E. Guven, “A Survey of Data Mining and Machine Learning Methods for Cyber Security Intrusion Detection,” </a:t>
            </a:r>
            <a:r>
              <a:rPr lang="en-US" i="1" dirty="0"/>
              <a:t>IEEE Communications Surveys &amp; Tutorials</a:t>
            </a:r>
            <a:r>
              <a:rPr lang="en-US" dirty="0"/>
              <a:t>, vol. 18, no. 2, pp. 1153–1176, 2016, </a:t>
            </a:r>
            <a:r>
              <a:rPr lang="en-US" dirty="0" err="1"/>
              <a:t>doi</a:t>
            </a:r>
            <a:r>
              <a:rPr lang="en-US" dirty="0"/>
              <a:t>: 10.1109/COMST.2015.2494502. </a:t>
            </a:r>
          </a:p>
          <a:p>
            <a:pPr marL="0" indent="0">
              <a:buNone/>
            </a:pPr>
            <a:r>
              <a:rPr lang="en-US" dirty="0"/>
              <a:t>[5] T. Fawcett, “An Introduction to ROC Analysis,” </a:t>
            </a:r>
            <a:r>
              <a:rPr lang="en-US" i="1" dirty="0"/>
              <a:t>Pattern Recognition Letters</a:t>
            </a:r>
            <a:r>
              <a:rPr lang="en-US" dirty="0"/>
              <a:t>, vol. 27, no. 8, pp. 861–874, 2006, </a:t>
            </a:r>
            <a:r>
              <a:rPr lang="en-US" dirty="0" err="1"/>
              <a:t>doi</a:t>
            </a:r>
            <a:r>
              <a:rPr lang="en-US" dirty="0"/>
              <a:t>: 10.1016/j.patrec.2005.10.010.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9213BDC-8A10-26FF-020D-0A0CE93E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275EB-F713-4457-92B3-C552CA2D5B2A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E69D4202-E988-285D-840C-6B0A6BF1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92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AA857166-A416-4C5E-8AA9-5D5D1E13D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int">
            <a:extLst>
              <a:ext uri="{FF2B5EF4-FFF2-40B4-BE49-F238E27FC236}">
                <a16:creationId xmlns:a16="http://schemas.microsoft.com/office/drawing/2014/main" id="{454D4344-7A53-4BC2-BE3F-111FE4853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311" y="0"/>
            <a:ext cx="1047689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1" y="0"/>
            <a:ext cx="6095997" cy="6858000"/>
          </a:xfrm>
          <a:prstGeom prst="rect">
            <a:avLst/>
          </a:prstGeom>
          <a:ln>
            <a:noFill/>
          </a:ln>
          <a:effectLst>
            <a:outerShdw blurRad="228600" dist="101600" dir="8820000" sx="95000" sy="95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1" y="-1"/>
            <a:ext cx="6095997" cy="5136739"/>
          </a:xfrm>
          <a:prstGeom prst="rect">
            <a:avLst/>
          </a:prstGeom>
          <a:ln>
            <a:noFill/>
          </a:ln>
          <a:effectLst>
            <a:outerShdw blurRad="381000" dist="50800" dir="5400000" sx="97000" sy="97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6F485B3-FB11-485A-D65E-A2B4684F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100" y="617921"/>
            <a:ext cx="4743775" cy="3988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5" name="Substituent conținut 4" descr="Questions outline">
            <a:extLst>
              <a:ext uri="{FF2B5EF4-FFF2-40B4-BE49-F238E27FC236}">
                <a16:creationId xmlns:a16="http://schemas.microsoft.com/office/drawing/2014/main" id="{AE1C9BF4-A3A9-F2E5-DAF2-B7BD32A34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883" y="1007863"/>
            <a:ext cx="4819410" cy="4819410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CA335230-6711-9CF0-AE09-6F52302823BB}"/>
              </a:ext>
            </a:extLst>
          </p:cNvPr>
          <p:cNvSpPr txBox="1"/>
          <p:nvPr/>
        </p:nvSpPr>
        <p:spPr>
          <a:xfrm>
            <a:off x="8708927" y="5596440"/>
            <a:ext cx="96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Q&amp;A?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E72F8A1B-D367-4453-1B4D-BAF29A47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60C8-7310-4778-9173-7449D2519784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4D14D5FB-5718-6690-2604-9C175945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125E-556B-42E3-89E2-4F98F73A50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91725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1069</Words>
  <Application>Microsoft Office PowerPoint</Application>
  <PresentationFormat>Ecran lat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Temă Office</vt:lpstr>
      <vt:lpstr>Network Intrusion Detection using Flow-to-Image Conversion and Deep Learning Classifiers</vt:lpstr>
      <vt:lpstr>Table of Contents</vt:lpstr>
      <vt:lpstr>Motivation and Objectives</vt:lpstr>
      <vt:lpstr>System Overview</vt:lpstr>
      <vt:lpstr>Dataset</vt:lpstr>
      <vt:lpstr>Traffic-to-Image Encoding</vt:lpstr>
      <vt:lpstr>Traffic-to-Image Encoding</vt:lpstr>
      <vt:lpstr>Training Setup</vt:lpstr>
      <vt:lpstr>Experimental Design</vt:lpstr>
      <vt:lpstr>Results </vt:lpstr>
      <vt:lpstr>Results </vt:lpstr>
      <vt:lpstr>Results </vt:lpstr>
      <vt:lpstr>Results </vt:lpstr>
      <vt:lpstr>Results </vt:lpstr>
      <vt:lpstr>Conclusion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Melinda Henrietta Incze</dc:creator>
  <cp:lastModifiedBy>Melinda Henrietta Incze</cp:lastModifiedBy>
  <cp:revision>4</cp:revision>
  <dcterms:created xsi:type="dcterms:W3CDTF">2026-01-13T23:53:49Z</dcterms:created>
  <dcterms:modified xsi:type="dcterms:W3CDTF">2026-01-14T11:25:46Z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2026-01-14T00:51:53Z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7c08a503-cbcf-44f2-aae3-cf8ac42c3400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